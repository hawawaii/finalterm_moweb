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34" r:id="rId4"/>
    <p:sldId id="332" r:id="rId5"/>
    <p:sldId id="261" r:id="rId6"/>
    <p:sldId id="336" r:id="rId7"/>
    <p:sldId id="344" r:id="rId8"/>
    <p:sldId id="345" r:id="rId9"/>
    <p:sldId id="346" r:id="rId10"/>
    <p:sldId id="348" r:id="rId11"/>
    <p:sldId id="338" r:id="rId12"/>
    <p:sldId id="349" r:id="rId13"/>
    <p:sldId id="341" r:id="rId14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6"/>
    <p:restoredTop sz="94658"/>
  </p:normalViewPr>
  <p:slideViewPr>
    <p:cSldViewPr>
      <p:cViewPr varScale="1">
        <p:scale>
          <a:sx n="78" d="100"/>
          <a:sy n="78" d="100"/>
        </p:scale>
        <p:origin x="1766" y="62"/>
      </p:cViewPr>
      <p:guideLst>
        <p:guide orient="horz" pos="720"/>
        <p:guide pos="288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8275" y="2171297"/>
            <a:ext cx="822911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보고서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ko-KR" altLang="en-US" sz="3600" spc="-5">
                <a:solidFill>
                  <a:srgbClr val="FFFFFF"/>
                </a:solidFill>
                <a:latin typeface="Times New Roman"/>
                <a:cs typeface="Times New Roman"/>
              </a:rPr>
              <a:t>제목 </a:t>
            </a:r>
            <a:r>
              <a:rPr lang="en-US" altLang="ko-KR" sz="3600" spc="-5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3600" spc="-5">
                <a:solidFill>
                  <a:srgbClr val="FFFFFF"/>
                </a:solidFill>
                <a:latin typeface="Times New Roman"/>
                <a:cs typeface="Times New Roman"/>
              </a:rPr>
              <a:t>식물 성장 블로그</a:t>
            </a:r>
            <a:endParaRPr sz="3600" i="1" spc="-5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3911489"/>
            <a:ext cx="312278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>
                <a:solidFill>
                  <a:srgbClr val="FFFFFF"/>
                </a:solidFill>
                <a:latin typeface="Times New Roman"/>
                <a:cs typeface="Times New Roman"/>
              </a:rPr>
              <a:t>학번</a:t>
            </a:r>
            <a:r>
              <a:rPr lang="en-US" altLang="ko-KR" sz="2400" spc="-5">
                <a:solidFill>
                  <a:srgbClr val="FFFFFF"/>
                </a:solidFill>
                <a:latin typeface="Times New Roman"/>
                <a:cs typeface="Times New Roman"/>
              </a:rPr>
              <a:t>:2016104116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>
                <a:solidFill>
                  <a:srgbClr val="FFFFFF"/>
                </a:solidFill>
                <a:latin typeface="Times New Roman"/>
                <a:cs typeface="Times New Roman"/>
              </a:rPr>
              <a:t>이름 </a:t>
            </a:r>
            <a:r>
              <a:rPr lang="en-US" altLang="ko-KR" sz="2400" spc="-5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lang="ko-KR" altLang="en-US" sz="2400" spc="-5">
                <a:solidFill>
                  <a:srgbClr val="FFFFFF"/>
                </a:solidFill>
                <a:latin typeface="Times New Roman"/>
                <a:cs typeface="Times New Roman"/>
              </a:rPr>
              <a:t>김태수</a:t>
            </a:r>
            <a:endParaRPr sz="24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2000" b="1" spc="-12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Mobile/</a:t>
            </a:r>
            <a:r>
              <a:rPr lang="en-US" altLang="ko-KR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WebService</a:t>
            </a:r>
            <a:r>
              <a:rPr lang="en-US" altLang="ko-KR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Project</a:t>
            </a:r>
            <a:endParaRPr lang="en-US" altLang="ko-K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Malgun Gothic"/>
                <a:cs typeface="Malgun Gothic"/>
              </a:rPr>
              <a:t>2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dirty="0"/>
              <a:t>목차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요구조건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목적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필요성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기능 계획</a:t>
            </a:r>
            <a:r>
              <a:rPr lang="en-US" altLang="ko-KR" sz="2000" dirty="0"/>
              <a:t>(</a:t>
            </a:r>
            <a:r>
              <a:rPr lang="ko-KR" altLang="en-US" sz="2000" dirty="0"/>
              <a:t>신규 또는 추가 기능 중심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>
                <a:solidFill>
                  <a:srgbClr val="1F497D"/>
                </a:solidFill>
                <a:latin typeface="Malgun Gothic"/>
                <a:cs typeface="Malgun Gothic"/>
              </a:rPr>
              <a:t>기대효과</a:t>
            </a:r>
            <a:endParaRPr lang="en-US" altLang="ko-KR" sz="2000" dirty="0">
              <a:solidFill>
                <a:srgbClr val="1F497D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069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요구조건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547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1.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Edge System(Python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1-1.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YoloV5 pretrained model </a:t>
            </a:r>
            <a:r>
              <a:rPr lang="ko-KR" altLang="en-US" sz="1600" dirty="0">
                <a:latin typeface="+mn-ea"/>
              </a:rPr>
              <a:t>사용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Ms</a:t>
            </a:r>
            <a:r>
              <a:rPr lang="en-US" altLang="ko-KR" sz="1600" dirty="0">
                <a:latin typeface="+mn-ea"/>
              </a:rPr>
              <a:t> coco </a:t>
            </a:r>
            <a:r>
              <a:rPr lang="ko-KR" altLang="en-US" sz="1600" dirty="0">
                <a:latin typeface="+mn-ea"/>
              </a:rPr>
              <a:t>훈련데이터 기준 검출 객체 </a:t>
            </a:r>
            <a:r>
              <a:rPr lang="en-US" altLang="ko-KR" sz="1600" dirty="0">
                <a:latin typeface="+mn-ea"/>
              </a:rPr>
              <a:t>(Classes) : 80</a:t>
            </a:r>
            <a:r>
              <a:rPr lang="ko-KR" altLang="en-US" sz="1600" dirty="0">
                <a:latin typeface="+mn-ea"/>
              </a:rPr>
              <a:t>가지 객체 검출 기능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i="1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1-3.</a:t>
            </a:r>
            <a:r>
              <a:rPr lang="ko-KR" altLang="en-US" sz="1600" dirty="0">
                <a:latin typeface="+mn-ea"/>
              </a:rPr>
              <a:t> 한 종류의 객체를 동일한 객체로 가능한 </a:t>
            </a:r>
            <a:r>
              <a:rPr lang="en-US" altLang="ko-KR" sz="1600" dirty="0">
                <a:latin typeface="+mn-ea"/>
              </a:rPr>
              <a:t>Change Detection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1-4.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1-5.</a:t>
            </a:r>
            <a:r>
              <a:rPr lang="ko-KR" altLang="en-US" sz="1600" dirty="0">
                <a:latin typeface="+mn-ea"/>
                <a:cs typeface="Gulim"/>
              </a:rPr>
              <a:t> 추가기능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2.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Service System(Python, Django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 err="1">
                <a:solidFill>
                  <a:srgbClr val="558ED5"/>
                </a:solidFill>
                <a:latin typeface="+mn-ea"/>
                <a:cs typeface="Malgun Gothic"/>
              </a:rPr>
              <a:t>Pythonanywhere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클라우드상 서비스 구동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일부 확장 기능 가능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2-1.</a:t>
            </a:r>
            <a:r>
              <a:rPr lang="ko-KR" altLang="en-US" sz="1600" dirty="0">
                <a:latin typeface="+mn-ea"/>
              </a:rPr>
              <a:t> 사용자 보안 기능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보안키를 이용한 로그인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공통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Image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</a:rPr>
              <a:t>Blog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ko-KR" altLang="en-US" sz="1600" dirty="0">
                <a:latin typeface="+mn-ea"/>
                <a:cs typeface="Gulim"/>
              </a:rPr>
              <a:t>및 </a:t>
            </a:r>
            <a:r>
              <a:rPr lang="ko-KR" altLang="en-US" sz="1600" dirty="0">
                <a:latin typeface="+mn-ea"/>
              </a:rPr>
              <a:t>관리</a:t>
            </a:r>
            <a:r>
              <a:rPr lang="ko-KR" altLang="en-US" sz="1600" dirty="0">
                <a:latin typeface="+mn-ea"/>
                <a:cs typeface="Gulim"/>
              </a:rPr>
              <a:t> 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일부 확장 기능 가능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2-3.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2-4.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2-5.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  <a:cs typeface="Gulim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3.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ore-KR" sz="1600" spc="-5" dirty="0">
                <a:solidFill>
                  <a:srgbClr val="558ED5"/>
                </a:solidFill>
                <a:latin typeface="+mn-ea"/>
                <a:cs typeface="Malgun Gothic"/>
              </a:rPr>
              <a:t>Client System(Android, Native App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개별 제안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3.1.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 list view </a:t>
            </a:r>
            <a:r>
              <a:rPr lang="ko-KR" altLang="en-US" sz="1600" dirty="0">
                <a:latin typeface="+mn-ea"/>
                <a:cs typeface="Gulim"/>
              </a:rPr>
              <a:t>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 기능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개별 제안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3.2.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3.3.</a:t>
            </a:r>
            <a:r>
              <a:rPr lang="ko-KR" altLang="en-US" sz="1600" dirty="0">
                <a:latin typeface="+mn-ea"/>
                <a:cs typeface="Gulim"/>
              </a:rPr>
              <a:t> 공통기능 및 추가기능을 활용한 사용자 시나리오 및 </a:t>
            </a:r>
            <a:r>
              <a:rPr lang="en-US" altLang="ko-KR" sz="1600" dirty="0">
                <a:latin typeface="+mn-ea"/>
                <a:cs typeface="Gulim"/>
              </a:rPr>
              <a:t>UI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 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3-4.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21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9658644-18C5-09E3-5A99-583969EA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18" y="2590800"/>
            <a:ext cx="2030258" cy="2788687"/>
          </a:xfrm>
          <a:prstGeom prst="rect">
            <a:avLst/>
          </a:prstGeom>
        </p:spPr>
      </p:pic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2AE3B60-BC96-6ABB-6C4A-5C973F50649C}"/>
              </a:ext>
            </a:extLst>
          </p:cNvPr>
          <p:cNvSpPr/>
          <p:nvPr/>
        </p:nvSpPr>
        <p:spPr>
          <a:xfrm>
            <a:off x="3942441" y="2666999"/>
            <a:ext cx="2151817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11206EA-D141-C3C0-2DFF-A03FD7DA0CF1}"/>
              </a:ext>
            </a:extLst>
          </p:cNvPr>
          <p:cNvSpPr/>
          <p:nvPr/>
        </p:nvSpPr>
        <p:spPr>
          <a:xfrm>
            <a:off x="1941282" y="2667051"/>
            <a:ext cx="1543959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>
                <a:latin typeface="Times New Roman"/>
                <a:cs typeface="Times New Roman"/>
              </a:rPr>
              <a:t>시스템 구성도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시스템 구성도</a:t>
            </a:r>
            <a:endParaRPr sz="2000" dirty="0">
              <a:latin typeface="+mn-ea"/>
              <a:cs typeface="Malgun Gothic"/>
            </a:endParaRPr>
          </a:p>
        </p:txBody>
      </p:sp>
      <p:pic>
        <p:nvPicPr>
          <p:cNvPr id="21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AE4E6DFE-0A9A-FA71-DD2D-D6F77FEC0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39" y="4785497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0F63D4D9-953B-2D1F-BFAF-1B1E31D2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51" y="4720803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DEE88C-C676-BE47-3735-11C43C5A1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238" y="4082001"/>
            <a:ext cx="870999" cy="870999"/>
          </a:xfrm>
          <a:prstGeom prst="rect">
            <a:avLst/>
          </a:prstGeom>
        </p:spPr>
      </p:pic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3E3AD6F-2BEC-050F-6ABD-67996DB94D9B}"/>
              </a:ext>
            </a:extLst>
          </p:cNvPr>
          <p:cNvSpPr/>
          <p:nvPr/>
        </p:nvSpPr>
        <p:spPr>
          <a:xfrm>
            <a:off x="2061309" y="3207725"/>
            <a:ext cx="1257632" cy="529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100"/>
              <a:t>Detect </a:t>
            </a:r>
          </a:p>
          <a:p>
            <a:pPr algn="ctr"/>
            <a:r>
              <a:rPr kumimoji="1" lang="en-US" altLang="en-US" sz="1100"/>
              <a:t>Potted plant</a:t>
            </a:r>
            <a:endParaRPr kumimoji="1" lang="ko-Kore-KR" altLang="en-US" sz="11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60186F94-C34A-B6E9-3EE6-4D66A3B4FDC6}"/>
              </a:ext>
            </a:extLst>
          </p:cNvPr>
          <p:cNvSpPr/>
          <p:nvPr/>
        </p:nvSpPr>
        <p:spPr>
          <a:xfrm>
            <a:off x="4031778" y="3395570"/>
            <a:ext cx="1368449" cy="7855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/>
              <a:t>Plant Growth Blog</a:t>
            </a:r>
            <a:endParaRPr kumimoji="1" lang="en-US" altLang="ko-Kore-KR" sz="1100" dirty="0"/>
          </a:p>
          <a:p>
            <a:pPr algn="ctr"/>
            <a:r>
              <a:rPr kumimoji="1" lang="en-US" altLang="ko-Kore-KR" sz="1100" dirty="0"/>
              <a:t>(Django blog)</a:t>
            </a:r>
            <a:endParaRPr kumimoji="1" lang="ko-Kore-KR" altLang="en-US" sz="1100" dirty="0"/>
          </a:p>
        </p:txBody>
      </p:sp>
      <p:pic>
        <p:nvPicPr>
          <p:cNvPr id="26" name="Picture 13" descr="D:\Daum_Cloud\DaumCloud\20131220_스마트 협업테이블\01. Images\Database_3.png">
            <a:extLst>
              <a:ext uri="{FF2B5EF4-FFF2-40B4-BE49-F238E27FC236}">
                <a16:creationId xmlns:a16="http://schemas.microsoft.com/office/drawing/2014/main" id="{962EA651-522D-9C86-C725-0861A92F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06" y="4181145"/>
            <a:ext cx="594672" cy="67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4EF574-AFE5-2436-6726-206CFC668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805" y="2671424"/>
            <a:ext cx="971309" cy="543326"/>
          </a:xfrm>
          <a:prstGeom prst="rect">
            <a:avLst/>
          </a:prstGeom>
        </p:spPr>
      </p:pic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9D1B64E9-B351-4B43-551D-F8B8F5CB930C}"/>
              </a:ext>
            </a:extLst>
          </p:cNvPr>
          <p:cNvCxnSpPr>
            <a:cxnSpLocks/>
            <a:stCxn id="24" idx="0"/>
            <a:endCxn id="33" idx="0"/>
          </p:cNvCxnSpPr>
          <p:nvPr/>
        </p:nvCxnSpPr>
        <p:spPr>
          <a:xfrm rot="5400000" flipH="1" flipV="1">
            <a:off x="3462845" y="2379281"/>
            <a:ext cx="55724" cy="1601165"/>
          </a:xfrm>
          <a:prstGeom prst="bentConnector3">
            <a:avLst>
              <a:gd name="adj1" fmla="val 510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B9B71CDA-9F6E-482A-5587-BB85509175DE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5124237" y="4517500"/>
            <a:ext cx="37276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91AC4C0C-D37A-9B30-37F3-932EFFED37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562" y="3680774"/>
            <a:ext cx="431435" cy="414626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AB7DE51-8636-F122-B35E-DF97F1590E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9861" y="4119079"/>
            <a:ext cx="552835" cy="41462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3796987-A85F-E381-8EB8-DE0569E371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9322" y="3223161"/>
            <a:ext cx="395673" cy="4146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36151BF-7ED6-0715-36B9-4A83291C87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378" y="2785772"/>
            <a:ext cx="421175" cy="414628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008D9B9-9672-F9F7-B1C9-CE4987F78C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6804" y="3223161"/>
            <a:ext cx="660400" cy="660400"/>
          </a:xfrm>
          <a:prstGeom prst="rect">
            <a:avLst/>
          </a:prstGeom>
        </p:spPr>
      </p:pic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ABCD8ECB-282A-6335-0B2A-8E0A1E5F558C}"/>
              </a:ext>
            </a:extLst>
          </p:cNvPr>
          <p:cNvCxnSpPr>
            <a:cxnSpLocks/>
            <a:stCxn id="60" idx="0"/>
          </p:cNvCxnSpPr>
          <p:nvPr/>
        </p:nvCxnSpPr>
        <p:spPr>
          <a:xfrm rot="5400000" flipH="1" flipV="1">
            <a:off x="6245781" y="1721501"/>
            <a:ext cx="138216" cy="266718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A01F47-3330-C635-0239-9C3660364D09}"/>
              </a:ext>
            </a:extLst>
          </p:cNvPr>
          <p:cNvSpPr txBox="1"/>
          <p:nvPr/>
        </p:nvSpPr>
        <p:spPr>
          <a:xfrm>
            <a:off x="2729982" y="2702939"/>
            <a:ext cx="123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HTTP/Restful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API</a:t>
            </a:r>
            <a:endParaRPr kumimoji="1" lang="ko-Kore-KR" alt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27E028-B68C-DDC5-6C75-D317B32B0A67}"/>
              </a:ext>
            </a:extLst>
          </p:cNvPr>
          <p:cNvSpPr txBox="1"/>
          <p:nvPr/>
        </p:nvSpPr>
        <p:spPr>
          <a:xfrm>
            <a:off x="5429805" y="2702938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1CDFA6-6AA4-2B01-173B-46645D590930}"/>
              </a:ext>
            </a:extLst>
          </p:cNvPr>
          <p:cNvSpPr txBox="1"/>
          <p:nvPr/>
        </p:nvSpPr>
        <p:spPr>
          <a:xfrm>
            <a:off x="4724400" y="3124200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F5EA3C39-7B5D-6748-BB13-44D60AC654A3}"/>
              </a:ext>
            </a:extLst>
          </p:cNvPr>
          <p:cNvSpPr/>
          <p:nvPr/>
        </p:nvSpPr>
        <p:spPr>
          <a:xfrm>
            <a:off x="4253616" y="4054333"/>
            <a:ext cx="94026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Image blog</a:t>
            </a:r>
            <a:endParaRPr kumimoji="1" lang="ko-Kore-KR" altLang="en-US" sz="1000" dirty="0"/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A2A46386-DA7C-81F2-1F2E-3C2FFD0D31EB}"/>
              </a:ext>
            </a:extLst>
          </p:cNvPr>
          <p:cNvSpPr/>
          <p:nvPr/>
        </p:nvSpPr>
        <p:spPr>
          <a:xfrm>
            <a:off x="4031778" y="3402836"/>
            <a:ext cx="69262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REST API</a:t>
            </a:r>
            <a:endParaRPr kumimoji="1" lang="ko-Kore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7F2CF-5152-F03B-CCDD-A01F95E9695B}"/>
              </a:ext>
            </a:extLst>
          </p:cNvPr>
          <p:cNvSpPr txBox="1"/>
          <p:nvPr/>
        </p:nvSpPr>
        <p:spPr>
          <a:xfrm>
            <a:off x="3856074" y="31520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PORT:8000</a:t>
            </a:r>
            <a:endParaRPr kumimoji="1" lang="ko-Kore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D9E07-B252-368F-6CC7-299C67EC932D}"/>
              </a:ext>
            </a:extLst>
          </p:cNvPr>
          <p:cNvSpPr txBox="1"/>
          <p:nvPr/>
        </p:nvSpPr>
        <p:spPr>
          <a:xfrm>
            <a:off x="1903368" y="5377056"/>
            <a:ext cx="1578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&lt;EDGE SYSTEM&gt;</a:t>
            </a:r>
            <a:endParaRPr kumimoji="1" lang="ko-Kore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3C3EBE-3F71-2BF4-18BE-D4502915FCFA}"/>
              </a:ext>
            </a:extLst>
          </p:cNvPr>
          <p:cNvSpPr txBox="1"/>
          <p:nvPr/>
        </p:nvSpPr>
        <p:spPr>
          <a:xfrm>
            <a:off x="6800813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&lt;CLIENT&gt;</a:t>
            </a:r>
            <a:endParaRPr kumimoji="1" lang="ko-Kore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838BDA-9BCA-D027-CC4E-8EEB922086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9247" y="4589324"/>
            <a:ext cx="431435" cy="4398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5A8C0A-F9CF-5A2E-A8FF-129FFFF75F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24" y="5097848"/>
            <a:ext cx="971397" cy="672207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153DF5B-04DE-EECD-E9EE-9E0DE5868408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 flipV="1">
            <a:off x="1040821" y="5097849"/>
            <a:ext cx="983718" cy="336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56D45A-D091-1BD2-D766-90BA81F6265B}"/>
              </a:ext>
            </a:extLst>
          </p:cNvPr>
          <p:cNvSpPr txBox="1"/>
          <p:nvPr/>
        </p:nvSpPr>
        <p:spPr>
          <a:xfrm>
            <a:off x="1184494" y="5446143"/>
            <a:ext cx="783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/>
              <a:t> web cam</a:t>
            </a:r>
            <a:endParaRPr kumimoji="1" lang="ko-Kore-KR" alt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424E271-6665-5F41-7DAD-DE491889775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4232" y="4641184"/>
            <a:ext cx="797854" cy="2356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07A8A-A117-F084-4D3B-B664B3E9CE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7910" y="4305472"/>
            <a:ext cx="1047750" cy="3271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92E289-E0B5-EAE3-9D1B-CDBDB0A7DFDF}"/>
              </a:ext>
            </a:extLst>
          </p:cNvPr>
          <p:cNvSpPr txBox="1"/>
          <p:nvPr/>
        </p:nvSpPr>
        <p:spPr>
          <a:xfrm>
            <a:off x="3960572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&lt;SERVICE SYSTEM&gt;</a:t>
            </a:r>
            <a:endParaRPr kumimoji="1" lang="ko-Kore-KR" altLang="en-US" sz="1200" dirty="0"/>
          </a:p>
        </p:txBody>
      </p:sp>
      <p:pic>
        <p:nvPicPr>
          <p:cNvPr id="14" name="그림 13" descr="벽, 텍스트, 실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E0E67E-8A29-1C21-ED61-0657A178E54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597" y="2890806"/>
            <a:ext cx="1560093" cy="1163692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7421C63-971B-F6DD-C5CF-1E56E69FB377}"/>
              </a:ext>
            </a:extLst>
          </p:cNvPr>
          <p:cNvSpPr/>
          <p:nvPr/>
        </p:nvSpPr>
        <p:spPr>
          <a:xfrm rot="13585667">
            <a:off x="1804003" y="4119079"/>
            <a:ext cx="257306" cy="2073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4040D2-4536-EF0F-FCC9-DAACCC1D7760}"/>
              </a:ext>
            </a:extLst>
          </p:cNvPr>
          <p:cNvSpPr txBox="1"/>
          <p:nvPr/>
        </p:nvSpPr>
        <p:spPr>
          <a:xfrm>
            <a:off x="179757" y="4222735"/>
            <a:ext cx="1775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YOLOv5</a:t>
            </a:r>
            <a:r>
              <a:rPr lang="ko-KR" altLang="en-US" sz="1200">
                <a:solidFill>
                  <a:srgbClr val="FF0000"/>
                </a:solidFill>
              </a:rPr>
              <a:t>로 </a:t>
            </a:r>
            <a:endParaRPr lang="en-US" altLang="ko-KR" sz="1200">
              <a:solidFill>
                <a:srgbClr val="FF0000"/>
              </a:solidFill>
            </a:endParaRPr>
          </a:p>
          <a:p>
            <a:r>
              <a:rPr lang="en-US" altLang="ko-KR" sz="1200">
                <a:solidFill>
                  <a:srgbClr val="FF0000"/>
                </a:solidFill>
              </a:rPr>
              <a:t>potted plant(classes 58) </a:t>
            </a:r>
            <a:r>
              <a:rPr lang="ko-KR" altLang="en-US" sz="1200">
                <a:solidFill>
                  <a:srgbClr val="FF0000"/>
                </a:solidFill>
              </a:rPr>
              <a:t>감지</a:t>
            </a:r>
            <a:r>
              <a:rPr lang="en-US" altLang="ko-KR" sz="1200">
                <a:solidFill>
                  <a:srgbClr val="FF0000"/>
                </a:solidFill>
              </a:rPr>
              <a:t>,</a:t>
            </a:r>
            <a:r>
              <a:rPr lang="ko-KR" altLang="en-US" sz="1200">
                <a:solidFill>
                  <a:srgbClr val="FF0000"/>
                </a:solidFill>
              </a:rPr>
              <a:t> 캡쳐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F37DEE-7806-B941-D4C8-4BDED7236964}"/>
              </a:ext>
            </a:extLst>
          </p:cNvPr>
          <p:cNvSpPr txBox="1"/>
          <p:nvPr/>
        </p:nvSpPr>
        <p:spPr>
          <a:xfrm>
            <a:off x="2680980" y="2135751"/>
            <a:ext cx="2152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감지된 이미지 </a:t>
            </a:r>
            <a:r>
              <a:rPr lang="en-US" altLang="ko-KR" sz="1200">
                <a:solidFill>
                  <a:srgbClr val="FF0000"/>
                </a:solidFill>
              </a:rPr>
              <a:t>Django </a:t>
            </a:r>
            <a:r>
              <a:rPr lang="ko-KR" altLang="en-US" sz="1200">
                <a:solidFill>
                  <a:srgbClr val="FF0000"/>
                </a:solidFill>
              </a:rPr>
              <a:t>서버로 전송</a:t>
            </a:r>
            <a:r>
              <a:rPr lang="en-US" altLang="ko-KR" sz="1200">
                <a:solidFill>
                  <a:srgbClr val="FF0000"/>
                </a:solidFill>
              </a:rPr>
              <a:t>(POST)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66C93F-CB5B-10B3-E0F5-FCDAAB24D6EE}"/>
              </a:ext>
            </a:extLst>
          </p:cNvPr>
          <p:cNvSpPr txBox="1"/>
          <p:nvPr/>
        </p:nvSpPr>
        <p:spPr>
          <a:xfrm>
            <a:off x="7114388" y="2169006"/>
            <a:ext cx="21528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이미지 화면 출력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3288A3-D2A6-7054-AE54-C89F16DE04FF}"/>
              </a:ext>
            </a:extLst>
          </p:cNvPr>
          <p:cNvSpPr txBox="1"/>
          <p:nvPr/>
        </p:nvSpPr>
        <p:spPr>
          <a:xfrm>
            <a:off x="4064933" y="5652088"/>
            <a:ext cx="21528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DB</a:t>
            </a:r>
            <a:r>
              <a:rPr lang="ko-KR" altLang="en-US" sz="1200">
                <a:solidFill>
                  <a:srgbClr val="FF0000"/>
                </a:solidFill>
              </a:rPr>
              <a:t>에 이미지 저장</a:t>
            </a:r>
            <a:r>
              <a:rPr lang="en-US" altLang="ko-KR" sz="1200">
                <a:solidFill>
                  <a:srgbClr val="FF0000"/>
                </a:solidFill>
              </a:rPr>
              <a:t>, </a:t>
            </a:r>
            <a:r>
              <a:rPr lang="ko-KR" altLang="en-US" sz="1200">
                <a:solidFill>
                  <a:srgbClr val="FF0000"/>
                </a:solidFill>
              </a:rPr>
              <a:t>관리</a:t>
            </a:r>
          </a:p>
        </p:txBody>
      </p:sp>
    </p:spTree>
    <p:extLst>
      <p:ext uri="{BB962C8B-B14F-4D97-AF65-F5344CB8AC3E}">
        <p14:creationId xmlns:p14="http://schemas.microsoft.com/office/powerpoint/2010/main" val="15501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940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>
                <a:latin typeface="Times New Roman"/>
                <a:cs typeface="Times New Roman"/>
              </a:rPr>
              <a:t>목적 및 필요성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2244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>
                <a:latin typeface="+mn-ea"/>
                <a:cs typeface="Malgun Gothic"/>
              </a:rPr>
              <a:t>반려 식물 성장 기록 자동화</a:t>
            </a:r>
            <a:endParaRPr lang="en-US" altLang="ko-KR" sz="200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en-US" altLang="ko-KR" sz="2000"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altLang="ko-KR" sz="200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>
                <a:latin typeface="+mn-ea"/>
                <a:cs typeface="Malgun Gothic"/>
              </a:rPr>
              <a:t>일일이 사진 촬영을 안해도 블로그에 기록 가능</a:t>
            </a:r>
            <a:endParaRPr lang="en-US" altLang="ko-KR" sz="200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en-US" altLang="ko-KR" sz="2000"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altLang="ko-KR" sz="200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>
                <a:latin typeface="+mn-ea"/>
                <a:cs typeface="Malgun Gothic"/>
              </a:rPr>
              <a:t>편한 식물 관리</a:t>
            </a:r>
            <a:r>
              <a:rPr lang="en-US" altLang="ko-KR" sz="2000">
                <a:latin typeface="+mn-ea"/>
                <a:cs typeface="Malgun Gothic"/>
              </a:rPr>
              <a:t>, </a:t>
            </a:r>
            <a:r>
              <a:rPr lang="ko-KR" altLang="en-US" sz="2000">
                <a:latin typeface="+mn-ea"/>
                <a:cs typeface="Malgun Gothic"/>
              </a:rPr>
              <a:t>어디서든 안드로이드 앱으로 확인 가능</a:t>
            </a:r>
            <a:endParaRPr lang="en-US" altLang="ko-KR" sz="1800">
              <a:latin typeface="+mn-ea"/>
              <a:cs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817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조건대비표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8D92DE-3313-341A-7253-A23793A0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508492"/>
              </p:ext>
            </p:extLst>
          </p:nvPr>
        </p:nvGraphicFramePr>
        <p:xfrm>
          <a:off x="457200" y="1219200"/>
          <a:ext cx="8991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6058721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25911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78529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61771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558375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시스템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세부기능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구현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대체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소스 파일명 </a:t>
                      </a:r>
                      <a:endParaRPr lang="en-US" altLang="ko-KR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algn="ctr"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함수 또는 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class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명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2765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1. Edge System(Python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기반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공통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1-1. YoloV5 pretrained model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사용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대체 가능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 O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Detect.py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369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1-2. </a:t>
                      </a:r>
                      <a:r>
                        <a:rPr lang="en" altLang="ko-KR" sz="1000" i="0" dirty="0" err="1">
                          <a:solidFill>
                            <a:schemeClr val="tx1"/>
                          </a:solidFill>
                          <a:latin typeface="+mn-lt"/>
                        </a:rPr>
                        <a:t>Ms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 coco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훈련데이터 기준 검출 객체 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Classes) : 80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가지 객체 검출 기능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대체 가능 함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Detect.py</a:t>
                      </a:r>
                      <a:endParaRPr lang="ko-KR" altLang="en-US" sz="100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76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1-3.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한 종류의 객체를 동일한 객체로 가능한 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Change Detection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대체 가능 함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en" altLang="ko-KR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changedetection.py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174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1-4.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게시를 위한 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HTTP </a:t>
                      </a:r>
                      <a:r>
                        <a:rPr lang="en" altLang="ko-KR" sz="1000" i="0" dirty="0" err="1">
                          <a:solidFill>
                            <a:schemeClr val="tx1"/>
                          </a:solidFill>
                          <a:latin typeface="+mn-lt"/>
                        </a:rPr>
                        <a:t>Restfull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 API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사용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공통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changedetection.py </a:t>
                      </a:r>
                    </a:p>
                    <a:p>
                      <a:pPr algn="ctr" latinLnBrk="1"/>
                      <a:r>
                        <a:rPr lang="en-US" altLang="ko-KR" sz="1000"/>
                        <a:t>(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requests.post())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583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1-5.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기타 추가기능 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더 있을 경우 아래 표 추가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21904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2. Service System(Python, Django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기반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" altLang="ko-KR" sz="100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Pythonanywhere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클라우드상 서비스 구동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일부 확장 기능 가능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2-1.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사용자 보안 기능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보안키를 이용한 로그인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공통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settings.py </a:t>
                      </a:r>
                    </a:p>
                    <a:p>
                      <a:pPr algn="ctr" latinLnBrk="1"/>
                      <a:r>
                        <a:rPr lang="en-US" altLang="ko-KR" sz="1000"/>
                        <a:t>(api-token-auth)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204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2-2. Image Blog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및 관리 기능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공통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일부 확장 기능 가능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models.py</a:t>
                      </a:r>
                    </a:p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(class Post)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1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2-3.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게시를 위한 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HTTP </a:t>
                      </a:r>
                      <a:r>
                        <a:rPr lang="en" altLang="ko-KR" sz="1000" i="0" dirty="0" err="1">
                          <a:solidFill>
                            <a:schemeClr val="tx1"/>
                          </a:solidFill>
                          <a:latin typeface="+mn-lt"/>
                        </a:rPr>
                        <a:t>Restfull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 API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제공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공통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views.py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916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2-4. Image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목록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획득을 위한 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HTTP </a:t>
                      </a:r>
                      <a:r>
                        <a:rPr lang="en" altLang="ko-KR" sz="1000" i="0" dirty="0" err="1">
                          <a:solidFill>
                            <a:schemeClr val="tx1"/>
                          </a:solidFill>
                          <a:latin typeface="+mn-lt"/>
                        </a:rPr>
                        <a:t>Restfull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 API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제공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신규 추가 필요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80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2-5.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기타 추가 기능 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더 있을 경우 아래 표 추가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9533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3. Client System(Android, Native App,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개별 제안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3.1. Image list view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기능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공통 기능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개별 제안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activity_main.xml</a:t>
                      </a:r>
                    </a:p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en-US" altLang="ko-KR" sz="1000"/>
                        <a:t>RecyclerView)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13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3.2. Image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목록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획득을 위한 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HTTP </a:t>
                      </a:r>
                      <a:r>
                        <a:rPr lang="en" altLang="ko-KR" sz="1000" i="0" dirty="0" err="1">
                          <a:solidFill>
                            <a:schemeClr val="tx1"/>
                          </a:solidFill>
                          <a:latin typeface="+mn-lt"/>
                        </a:rPr>
                        <a:t>Restfull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 API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사용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신규 추가 필요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MainActivity.java</a:t>
                      </a:r>
                    </a:p>
                    <a:p>
                      <a:pPr algn="ctr" latinLnBrk="1"/>
                      <a:r>
                        <a:rPr lang="en-US" altLang="ko-KR" sz="100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/>
                        <a:t>http://10.0.2.2:8000/api_root/Post/)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566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3.3.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공통기능 및 추가기능을 활용한 사용자 시나리오 및 </a:t>
                      </a:r>
                      <a:r>
                        <a:rPr lang="en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UI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제공 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신규 추가 필요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MainActivity.java</a:t>
                      </a:r>
                    </a:p>
                    <a:p>
                      <a:pPr algn="ctr" latinLnBrk="1"/>
                      <a:r>
                        <a:rPr lang="en-US" altLang="ko-KR" sz="1000"/>
                        <a:t>(onClickDownload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3-4.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latin typeface="+mn-lt"/>
                        </a:rPr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i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6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98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953FC-8DC7-DEB6-AC4F-171A8F7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2D131-20C9-3743-0C3C-F48B12A4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251625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1-1. YoloV5 pretrained </a:t>
            </a:r>
            <a:r>
              <a:rPr lang="en" altLang="ko-KR" sz="1400" spc="-5">
                <a:solidFill>
                  <a:srgbClr val="558ED5"/>
                </a:solidFill>
                <a:latin typeface="+mn-ea"/>
                <a:cs typeface="Malgun Gothic"/>
              </a:rPr>
              <a:t>model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endParaRPr lang="en-US" altLang="ko-KR" sz="14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altLang="ko-KR" sz="1400" b="1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n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초마다 한번씩 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(time.sleep(n))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식물을 검출해서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상태 변화시 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식물이 없거나 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/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식물이 있거나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해당 이미지를 업로드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80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A10C6-B376-C92B-2E3F-39E2C58C9A9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374735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1-2.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Ms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coco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훈련데이터 기준 검출 객체 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Classes) : 80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가지 객체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검출 기능</a:t>
            </a:r>
            <a:endParaRPr lang="en-US" altLang="ko-KR" sz="14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altLang="ko-KR" sz="1400" b="1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classes 58, potted plant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만 감지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=&gt;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시스템 부하 줄임</a:t>
            </a:r>
            <a:endParaRPr lang="en-US" altLang="ko-KR" sz="1400" spc="-5" dirty="0">
              <a:solidFill>
                <a:srgbClr val="558ED5"/>
              </a:solidFill>
              <a:latin typeface="+mn-ea"/>
              <a:cs typeface="Gulim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pic>
        <p:nvPicPr>
          <p:cNvPr id="14" name="그림 13" descr="벽, 텍스트, 실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B3CDDD-909E-5D21-2623-7A5879EE00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578" y="2880794"/>
            <a:ext cx="4003966" cy="2986606"/>
          </a:xfrm>
          <a:prstGeom prst="rect">
            <a:avLst/>
          </a:prstGeom>
        </p:spPr>
      </p:pic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AF71EB-3036-5BB3-C4D3-4C58A005F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100407"/>
            <a:ext cx="5307633" cy="17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5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C10C-D7E8-0941-032A-F97ED994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DC8FF-D86E-578B-462B-9B4B30D6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436FCE2-7D0B-C826-592C-819072951881}"/>
              </a:ext>
            </a:extLst>
          </p:cNvPr>
          <p:cNvSpPr txBox="1">
            <a:spLocks/>
          </p:cNvSpPr>
          <p:nvPr/>
        </p:nvSpPr>
        <p:spPr>
          <a:xfrm>
            <a:off x="574040" y="1577340"/>
            <a:ext cx="4309110" cy="137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한 종류의 객체를 동일한 객체로 가능한 </a:t>
            </a:r>
            <a:r>
              <a:rPr lang="en" altLang="ko-KR" sz="1400" kern="0" spc="-5">
                <a:solidFill>
                  <a:srgbClr val="558ED5"/>
                </a:solidFill>
                <a:latin typeface="+mn-ea"/>
                <a:cs typeface="Malgun Gothic"/>
              </a:rPr>
              <a:t>Change Detection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en" altLang="ko-KR" sz="1400" kern="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>
                <a:solidFill>
                  <a:srgbClr val="558ED5"/>
                </a:solidFill>
                <a:latin typeface="+mn-ea"/>
                <a:cs typeface="Malgun Gothic"/>
              </a:rPr>
              <a:t>C</a:t>
            </a:r>
            <a:r>
              <a:rPr lang="en" altLang="ko-KR" sz="1400" kern="0" spc="-5">
                <a:solidFill>
                  <a:srgbClr val="558ED5"/>
                </a:solidFill>
                <a:latin typeface="+mn-ea"/>
                <a:cs typeface="Malgun Gothic"/>
              </a:rPr>
              <a:t>hangedetection.py</a:t>
            </a:r>
            <a:r>
              <a:rPr lang="ko-KR" altLang="en-US" sz="1400" kern="0" spc="-5">
                <a:solidFill>
                  <a:srgbClr val="558ED5"/>
                </a:solidFill>
                <a:latin typeface="+mn-ea"/>
                <a:cs typeface="Malgun Gothic"/>
              </a:rPr>
              <a:t>에서 식물의 상태변화 감지</a:t>
            </a:r>
            <a:endParaRPr lang="en" altLang="ko-KR" sz="1400" kern="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en" altLang="ko-KR" sz="1400" kern="0" spc="-5">
              <a:solidFill>
                <a:srgbClr val="558ED5"/>
              </a:solidFill>
              <a:latin typeface="+mn-ea"/>
              <a:cs typeface="Gulim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ACCB36D9-586F-F52E-70DB-55ACD54B7FC6}"/>
              </a:ext>
            </a:extLst>
          </p:cNvPr>
          <p:cNvSpPr txBox="1">
            <a:spLocks noGrp="1"/>
          </p:cNvSpPr>
          <p:nvPr>
            <p:ph sz="half" idx="3"/>
          </p:nvPr>
        </p:nvSpPr>
        <p:spPr>
          <a:xfrm>
            <a:off x="5102225" y="1577975"/>
            <a:ext cx="4308475" cy="2054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en-US" altLang="ko-KR" sz="1400" b="1" kern="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11" name="내용 개체 틀 10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A89203-5155-825C-AA4D-81FB119E34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3070949"/>
            <a:ext cx="4953000" cy="2387926"/>
          </a:xfrm>
          <a:prstGeom prst="rect">
            <a:avLst/>
          </a:prstGeom>
        </p:spPr>
      </p:pic>
      <p:pic>
        <p:nvPicPr>
          <p:cNvPr id="13" name="그림 1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3E248-0C75-A960-7E72-9C34465F5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326" y="2284372"/>
            <a:ext cx="5301286" cy="23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6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B0C2-7071-927C-C28B-D488923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3B1E0-DCA4-6B53-3ABD-B5A49F1D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23D7F-C36C-107B-7BF2-246DBF4E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2-1.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사용자 보안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보안키를 이용한 로그인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5ACAD-B866-53DA-94B5-BBFD3F1C41A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2-2. Image Blog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및 관리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일부 확장 기능 가능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701398-9CCD-B812-1428-A0D01599FD8A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585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8" name="그림 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101263-AD18-6390-8D1E-20BD3C68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01" y="1447800"/>
            <a:ext cx="4397727" cy="2322114"/>
          </a:xfrm>
          <a:prstGeom prst="rect">
            <a:avLst/>
          </a:prstGeom>
        </p:spPr>
      </p:pic>
      <p:pic>
        <p:nvPicPr>
          <p:cNvPr id="10" name="그림 9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48AD2F-C14C-5456-F26C-1806096A0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120" y="1712228"/>
            <a:ext cx="2714479" cy="2177166"/>
          </a:xfrm>
          <a:prstGeom prst="rect">
            <a:avLst/>
          </a:prstGeom>
        </p:spPr>
      </p:pic>
      <p:pic>
        <p:nvPicPr>
          <p:cNvPr id="12" name="그림 11" descr="텍스트, 스크린샷, 멀티미디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9DCC42-4BC5-071E-25B7-BF0A6EDF5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410" y="1458219"/>
            <a:ext cx="2600770" cy="4886930"/>
          </a:xfrm>
          <a:prstGeom prst="rect">
            <a:avLst/>
          </a:prstGeom>
        </p:spPr>
      </p:pic>
      <p:pic>
        <p:nvPicPr>
          <p:cNvPr id="14" name="그림 1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A43318-9D74-DA3B-CC26-18B5EB26C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343400"/>
            <a:ext cx="3610649" cy="228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1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4422-BB0D-3E5A-7E5E-14136C8A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A25E-EF9B-015E-ACE8-7A7A35A7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3. Client System(Android,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개별 제안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94BAA-EF43-505D-E9D9-DC002713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3.1. Image list view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개별 제안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0B8A7-7FF0-6EAE-390E-8D3D5A0B7D5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01053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3.2. Image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신규 추가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Malgun Gothic"/>
              </a:rPr>
              <a:t>필요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en-US" altLang="ko-KR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altLang="ko-KR" sz="1400" b="1" spc="-5" dirty="0">
              <a:solidFill>
                <a:srgbClr val="558ED5"/>
              </a:solidFill>
              <a:latin typeface="+mn-ea"/>
              <a:cs typeface="Gulim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>
                <a:solidFill>
                  <a:srgbClr val="558ED5"/>
                </a:solidFill>
                <a:latin typeface="+mn-ea"/>
                <a:cs typeface="Gulim"/>
              </a:rPr>
              <a:t>httpURLConnection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Gulim"/>
              </a:rPr>
              <a:t>으로 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Gulim"/>
              </a:rPr>
              <a:t>Django 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Gulim"/>
              </a:rPr>
              <a:t>서버에</a:t>
            </a:r>
            <a:r>
              <a:rPr lang="en-US" altLang="ko-KR" sz="1400" spc="-5">
                <a:solidFill>
                  <a:srgbClr val="558ED5"/>
                </a:solidFill>
                <a:latin typeface="+mn-ea"/>
                <a:cs typeface="Gulim"/>
              </a:rPr>
              <a:t> GET</a:t>
            </a:r>
            <a:r>
              <a:rPr lang="ko-KR" altLang="en-US" sz="1400" spc="-5">
                <a:solidFill>
                  <a:srgbClr val="558ED5"/>
                </a:solidFill>
                <a:latin typeface="+mn-ea"/>
                <a:cs typeface="Gulim"/>
              </a:rPr>
              <a:t>요청</a:t>
            </a: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pic>
        <p:nvPicPr>
          <p:cNvPr id="8" name="그림 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D2EEA2-B952-6258-43E9-3FEC8B0EB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34" y="1682679"/>
            <a:ext cx="4213245" cy="4345225"/>
          </a:xfrm>
          <a:prstGeom prst="rect">
            <a:avLst/>
          </a:prstGeom>
        </p:spPr>
      </p:pic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894576-D5F0-F9E0-B303-7D99A8D1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67" y="2415739"/>
            <a:ext cx="4436280" cy="345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5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693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>
                <a:latin typeface="Times New Roman"/>
                <a:cs typeface="Times New Roman"/>
              </a:rPr>
              <a:t>계획과 다른점</a:t>
            </a:r>
            <a:r>
              <a:rPr lang="en-US" altLang="ko-KR">
                <a:latin typeface="Times New Roman"/>
                <a:cs typeface="Times New Roman"/>
              </a:rPr>
              <a:t>, </a:t>
            </a:r>
            <a:r>
              <a:rPr lang="ko-KR" altLang="en-US">
                <a:latin typeface="Times New Roman"/>
                <a:cs typeface="Times New Roman"/>
              </a:rPr>
              <a:t>이상과 현실</a:t>
            </a:r>
            <a:r>
              <a:rPr lang="en-US" altLang="ko-KR">
                <a:latin typeface="Times New Roman"/>
                <a:cs typeface="Times New Roman"/>
              </a:rPr>
              <a:t>..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초기 기획은 사진을 픽셀단위로 분석 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-&gt; 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몇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% 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자랐는지 수치화</a:t>
            </a:r>
            <a:endParaRPr lang="en-US" altLang="ko-KR" sz="20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2000">
                <a:latin typeface="+mn-ea"/>
                <a:cs typeface="Gulim"/>
              </a:rPr>
              <a:t>	- </a:t>
            </a:r>
            <a:r>
              <a:rPr lang="ko-KR" altLang="en-US" sz="2000">
                <a:latin typeface="+mn-ea"/>
                <a:cs typeface="Gulim"/>
              </a:rPr>
              <a:t>픽셀 수를 면적으로 환산하는 알고리즘 필요</a:t>
            </a:r>
            <a:r>
              <a:rPr lang="en-US" altLang="ko-KR" sz="2000">
                <a:latin typeface="+mn-ea"/>
                <a:cs typeface="Gulim"/>
              </a:rPr>
              <a:t>..</a:t>
            </a:r>
          </a:p>
          <a:p>
            <a:pPr marL="12065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2000">
                <a:latin typeface="+mn-ea"/>
                <a:cs typeface="Gulim"/>
              </a:rPr>
              <a:t>	- ‘</a:t>
            </a:r>
            <a:r>
              <a:rPr lang="ko-KR" altLang="en-US" sz="2000">
                <a:latin typeface="+mn-ea"/>
                <a:cs typeface="Gulim"/>
              </a:rPr>
              <a:t>바람이나 빛의 영향으로 잎의 방향이 바뀐것</a:t>
            </a:r>
            <a:r>
              <a:rPr lang="en-US" altLang="ko-KR" sz="2000">
                <a:latin typeface="+mn-ea"/>
                <a:cs typeface="Gulim"/>
              </a:rPr>
              <a:t>’ </a:t>
            </a:r>
            <a:r>
              <a:rPr lang="ko-KR" altLang="en-US" sz="2000">
                <a:latin typeface="+mn-ea"/>
                <a:cs typeface="Gulim"/>
              </a:rPr>
              <a:t>과 </a:t>
            </a:r>
            <a:r>
              <a:rPr lang="en-US" altLang="ko-KR" sz="2000">
                <a:latin typeface="+mn-ea"/>
                <a:cs typeface="Gulim"/>
              </a:rPr>
              <a:t>‘</a:t>
            </a:r>
            <a:r>
              <a:rPr lang="ko-KR" altLang="en-US" sz="2000">
                <a:latin typeface="+mn-ea"/>
                <a:cs typeface="Gulim"/>
              </a:rPr>
              <a:t>자란것</a:t>
            </a:r>
            <a:r>
              <a:rPr lang="en-US" altLang="ko-KR" sz="2000">
                <a:latin typeface="+mn-ea"/>
                <a:cs typeface="Gulim"/>
              </a:rPr>
              <a:t>’ </a:t>
            </a:r>
            <a:r>
              <a:rPr lang="ko-KR" altLang="en-US" sz="2000">
                <a:latin typeface="+mn-ea"/>
                <a:cs typeface="Gulim"/>
              </a:rPr>
              <a:t>의 차이</a:t>
            </a:r>
            <a:r>
              <a:rPr lang="en-US" altLang="ko-KR" sz="2000">
                <a:latin typeface="+mn-ea"/>
                <a:cs typeface="Gulim"/>
              </a:rPr>
              <a:t>	</a:t>
            </a:r>
            <a:r>
              <a:rPr lang="ko-KR" altLang="en-US" sz="2000">
                <a:latin typeface="+mn-ea"/>
                <a:cs typeface="Gulim"/>
              </a:rPr>
              <a:t>를 구분하기 어려울 것이라고 판단</a:t>
            </a:r>
            <a:r>
              <a:rPr lang="en-US" altLang="ko-KR" sz="2000">
                <a:latin typeface="+mn-ea"/>
                <a:cs typeface="Gulim"/>
              </a:rPr>
              <a:t>..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en-US" altLang="ko-KR" sz="20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sz="2000" dirty="0">
              <a:latin typeface="+mn-ea"/>
              <a:cs typeface="Malgun Gothic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760A9C6-E175-35D8-56BB-AC9435264597}"/>
              </a:ext>
            </a:extLst>
          </p:cNvPr>
          <p:cNvSpPr txBox="1"/>
          <p:nvPr/>
        </p:nvSpPr>
        <p:spPr>
          <a:xfrm>
            <a:off x="533400" y="2866052"/>
            <a:ext cx="8080375" cy="1270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초기 기획은 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24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시간 관찰하며 해충 등을 감지 하려고 함</a:t>
            </a:r>
            <a:endParaRPr lang="en-US" altLang="ko-KR" sz="20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2000">
                <a:latin typeface="+mn-ea"/>
                <a:cs typeface="Gulim"/>
              </a:rPr>
              <a:t>	-</a:t>
            </a:r>
            <a:r>
              <a:rPr lang="ko-KR" altLang="en-US" sz="2000">
                <a:latin typeface="+mn-ea"/>
                <a:cs typeface="Gulim"/>
              </a:rPr>
              <a:t>사람</a:t>
            </a:r>
            <a:r>
              <a:rPr lang="en-US" altLang="ko-KR" sz="2000">
                <a:latin typeface="+mn-ea"/>
                <a:cs typeface="Gulim"/>
              </a:rPr>
              <a:t>(person), </a:t>
            </a:r>
            <a:r>
              <a:rPr lang="ko-KR" altLang="en-US" sz="2000">
                <a:latin typeface="+mn-ea"/>
                <a:cs typeface="Gulim"/>
              </a:rPr>
              <a:t>화분</a:t>
            </a:r>
            <a:r>
              <a:rPr lang="en-US" altLang="ko-KR" sz="2000">
                <a:latin typeface="+mn-ea"/>
                <a:cs typeface="Gulim"/>
              </a:rPr>
              <a:t>(potted plant) </a:t>
            </a:r>
            <a:r>
              <a:rPr lang="ko-KR" altLang="en-US" sz="2000">
                <a:latin typeface="+mn-ea"/>
                <a:cs typeface="Gulim"/>
              </a:rPr>
              <a:t>이외에 진딧물과 같은 해충은 </a:t>
            </a:r>
            <a:r>
              <a:rPr lang="en-US" altLang="ko-KR" sz="2000">
                <a:latin typeface="+mn-ea"/>
                <a:cs typeface="Gulim"/>
              </a:rPr>
              <a:t>	COCO </a:t>
            </a:r>
            <a:r>
              <a:rPr lang="ko-KR" altLang="en-US" sz="2000">
                <a:latin typeface="+mn-ea"/>
                <a:cs typeface="Gulim"/>
              </a:rPr>
              <a:t>데이터셋에 없음</a:t>
            </a:r>
            <a:r>
              <a:rPr lang="en-US" altLang="ko-KR" sz="2000">
                <a:latin typeface="+mn-ea"/>
                <a:cs typeface="Gulim"/>
              </a:rPr>
              <a:t>.</a:t>
            </a:r>
            <a:endParaRPr lang="en-US" altLang="ko-KR" sz="20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sz="2000" dirty="0">
              <a:latin typeface="+mn-ea"/>
              <a:cs typeface="Malgun Gothic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496E335-754A-0129-A09C-248E1AA87986}"/>
              </a:ext>
            </a:extLst>
          </p:cNvPr>
          <p:cNvSpPr txBox="1"/>
          <p:nvPr/>
        </p:nvSpPr>
        <p:spPr>
          <a:xfrm>
            <a:off x="533400" y="4336050"/>
            <a:ext cx="8080375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현실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: </a:t>
            </a:r>
            <a:b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</a:b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5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초에 한번씩 </a:t>
            </a:r>
            <a:b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</a:b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1. Potted plant 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가 감지됨</a:t>
            </a:r>
            <a:b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</a:b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2. Potted plant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가 감지 안됨</a:t>
            </a:r>
            <a:b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</a:b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1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과 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2 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사이에 변동이 있으면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이미지 업로드</a:t>
            </a: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2540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C4B8-1893-1BD5-3A90-58A2B7D8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2325E6-CC56-4CC9-D084-F4432332CA21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A42CF89-355B-CD4A-9B15-5864D528A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550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>
                <a:latin typeface="Times New Roman"/>
                <a:cs typeface="Times New Roman"/>
              </a:rPr>
              <a:t>결론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89923E-51FD-B8AD-86D9-8E9AA7B87B35}"/>
              </a:ext>
            </a:extLst>
          </p:cNvPr>
          <p:cNvSpPr txBox="1"/>
          <p:nvPr/>
        </p:nvSpPr>
        <p:spPr>
          <a:xfrm>
            <a:off x="574040" y="1784757"/>
            <a:ext cx="8080375" cy="1924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계획대로 된건 아니지만</a:t>
            </a:r>
            <a:endParaRPr lang="en-US" altLang="ko-KR" sz="20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altLang="ko-KR" sz="20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Edge &lt;-&gt; Server &lt;-&gt; Client 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로 이어지는 </a:t>
            </a:r>
            <a:endParaRPr lang="en-US" altLang="ko-KR" sz="2000" spc="-5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	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모바일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-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웹 서비스의 기초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뼈대는 만들어 봤다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!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	</a:t>
            </a:r>
            <a:r>
              <a:rPr lang="ko-KR" altLang="en-US" sz="2000" spc="-5">
                <a:solidFill>
                  <a:srgbClr val="558ED5"/>
                </a:solidFill>
                <a:latin typeface="+mn-ea"/>
                <a:cs typeface="Malgun Gothic"/>
              </a:rPr>
              <a:t>는 것이 좋은 경험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.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29401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626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결과물의 목록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0983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서비스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URL 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:  </a:t>
            </a:r>
            <a:r>
              <a:rPr lang="en-US" altLang="ko-KR" sz="2000" i="1" spc="-5">
                <a:solidFill>
                  <a:srgbClr val="FF0000"/>
                </a:solidFill>
                <a:latin typeface="+mn-ea"/>
                <a:cs typeface="Malgun Gothic"/>
                <a:hlinkClick r:id="rId2"/>
              </a:rPr>
              <a:t>http://127.0.0.1:8000/</a:t>
            </a:r>
            <a:r>
              <a:rPr lang="en-US" altLang="ko-KR" sz="2000" i="1" spc="-5">
                <a:solidFill>
                  <a:srgbClr val="FF0000"/>
                </a:solidFill>
                <a:latin typeface="+mn-ea"/>
                <a:cs typeface="Malgun Gothic"/>
              </a:rPr>
              <a:t> 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-US" altLang="ko-KR" sz="2000" i="1" spc="-5">
                <a:solidFill>
                  <a:srgbClr val="FF0000"/>
                </a:solidFill>
                <a:latin typeface="+mn-ea"/>
                <a:cs typeface="Malgun Gothic"/>
              </a:rPr>
              <a:t>local</a:t>
            </a:r>
            <a:r>
              <a:rPr lang="ko-KR" altLang="en-US" sz="2000" i="1" spc="-5">
                <a:solidFill>
                  <a:srgbClr val="FF0000"/>
                </a:solidFill>
                <a:latin typeface="+mn-ea"/>
                <a:cs typeface="Malgun Gothic"/>
              </a:rPr>
              <a:t>에서만</a:t>
            </a:r>
            <a:r>
              <a:rPr lang="en-US" altLang="ko-KR" sz="2000" i="1" spc="-5">
                <a:solidFill>
                  <a:srgbClr val="FF0000"/>
                </a:solidFill>
                <a:latin typeface="+mn-ea"/>
                <a:cs typeface="Malgun Gothic"/>
              </a:rPr>
              <a:t>..) </a:t>
            </a:r>
            <a:endParaRPr lang="en-US" altLang="ko-KR" sz="20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소스코드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git 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주소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: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ko-KR" altLang="en-US" i="1" dirty="0">
                <a:solidFill>
                  <a:srgbClr val="FF0000"/>
                </a:solidFill>
                <a:latin typeface="+mn-ea"/>
                <a:cs typeface="Gulim"/>
              </a:rPr>
              <a:t>폴더 형식 </a:t>
            </a:r>
            <a:endParaRPr lang="en-US" altLang="ko-KR" i="1" dirty="0">
              <a:solidFill>
                <a:srgbClr val="FF0000"/>
              </a:solidFill>
              <a:latin typeface="+mn-ea"/>
              <a:cs typeface="Gulim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E730AC-CFC8-5EDF-860C-36BC23E2E541}"/>
              </a:ext>
            </a:extLst>
          </p:cNvPr>
          <p:cNvGrpSpPr/>
          <p:nvPr/>
        </p:nvGrpSpPr>
        <p:grpSpPr>
          <a:xfrm>
            <a:off x="1905000" y="2334178"/>
            <a:ext cx="7315200" cy="1704422"/>
            <a:chOff x="2057400" y="2133600"/>
            <a:chExt cx="7315200" cy="17044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DD1A18B-E207-63B8-B8C7-5E192BFB88DE}"/>
                </a:ext>
              </a:extLst>
            </p:cNvPr>
            <p:cNvSpPr/>
            <p:nvPr/>
          </p:nvSpPr>
          <p:spPr>
            <a:xfrm>
              <a:off x="2057400" y="2133600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Root</a:t>
              </a:r>
              <a:endParaRPr kumimoji="1" lang="ko-Kore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597A4C-A41B-4751-3E12-A7B7CFF451AC}"/>
                </a:ext>
              </a:extLst>
            </p:cNvPr>
            <p:cNvSpPr/>
            <p:nvPr/>
          </p:nvSpPr>
          <p:spPr>
            <a:xfrm>
              <a:off x="4614227" y="2141483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Edge_System</a:t>
              </a:r>
              <a:endParaRPr kumimoji="1" lang="ko-Kore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8A63B9-CA00-D283-FA1D-A78E4A936BCE}"/>
                </a:ext>
              </a:extLst>
            </p:cNvPr>
            <p:cNvSpPr/>
            <p:nvPr/>
          </p:nvSpPr>
          <p:spPr>
            <a:xfrm>
              <a:off x="4614227" y="2772756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Service_System</a:t>
              </a:r>
              <a:endParaRPr kumimoji="1" lang="ko-Kore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3C426F6-AC55-20D4-8C98-F4D88F05621F}"/>
                </a:ext>
              </a:extLst>
            </p:cNvPr>
            <p:cNvSpPr/>
            <p:nvPr/>
          </p:nvSpPr>
          <p:spPr>
            <a:xfrm>
              <a:off x="4614227" y="3404029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Client_System</a:t>
              </a:r>
              <a:endParaRPr kumimoji="1" lang="ko-Kore-KR" altLang="en-US" dirty="0"/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858EB992-DFBD-5465-1B8D-7ACF2C5660B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38600" y="2350597"/>
              <a:ext cx="575627" cy="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꺾인 연결선[E] 12">
              <a:extLst>
                <a:ext uri="{FF2B5EF4-FFF2-40B4-BE49-F238E27FC236}">
                  <a16:creationId xmlns:a16="http://schemas.microsoft.com/office/drawing/2014/main" id="{FB351BE6-61C4-1769-DB81-F2487B26125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038600" y="2350597"/>
              <a:ext cx="575627" cy="6391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4CF0E49F-C012-5CDF-E9E9-B10B1E9996B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4038600" y="2350597"/>
              <a:ext cx="575627" cy="12704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왼쪽 화살표[L] 19">
              <a:extLst>
                <a:ext uri="{FF2B5EF4-FFF2-40B4-BE49-F238E27FC236}">
                  <a16:creationId xmlns:a16="http://schemas.microsoft.com/office/drawing/2014/main" id="{B287C82F-48F4-5176-B993-CA6D56492D90}"/>
                </a:ext>
              </a:extLst>
            </p:cNvPr>
            <p:cNvSpPr/>
            <p:nvPr/>
          </p:nvSpPr>
          <p:spPr>
            <a:xfrm>
              <a:off x="7086600" y="2141484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YOLO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왼쪽 화살표[L] 20">
              <a:extLst>
                <a:ext uri="{FF2B5EF4-FFF2-40B4-BE49-F238E27FC236}">
                  <a16:creationId xmlns:a16="http://schemas.microsoft.com/office/drawing/2014/main" id="{661CE047-42BA-0835-FBBF-825A7534441E}"/>
                </a:ext>
              </a:extLst>
            </p:cNvPr>
            <p:cNvSpPr/>
            <p:nvPr/>
          </p:nvSpPr>
          <p:spPr>
            <a:xfrm>
              <a:off x="7086600" y="2780639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Django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왼쪽 화살표[L] 21">
              <a:extLst>
                <a:ext uri="{FF2B5EF4-FFF2-40B4-BE49-F238E27FC236}">
                  <a16:creationId xmlns:a16="http://schemas.microsoft.com/office/drawing/2014/main" id="{A1F7652F-28B4-2D24-DA8F-C647A6995155}"/>
                </a:ext>
              </a:extLst>
            </p:cNvPr>
            <p:cNvSpPr/>
            <p:nvPr/>
          </p:nvSpPr>
          <p:spPr>
            <a:xfrm>
              <a:off x="7086600" y="3407970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Android, Native App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6B96D8-C469-DA52-92DD-BE63EAF5557F}"/>
              </a:ext>
            </a:extLst>
          </p:cNvPr>
          <p:cNvSpPr/>
          <p:nvPr/>
        </p:nvSpPr>
        <p:spPr>
          <a:xfrm>
            <a:off x="4491210" y="42672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보고서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altLang="ko-KR" spc="-5" dirty="0">
                <a:solidFill>
                  <a:srgbClr val="FFFFFF"/>
                </a:solidFill>
                <a:latin typeface="Times New Roman"/>
                <a:cs typeface="Times New Roman"/>
              </a:rPr>
              <a:t>pptx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4815B585-13F2-2774-E3B0-9AF5359FBF4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86200" y="2551175"/>
            <a:ext cx="605010" cy="19330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D7E21-5A52-D56E-9176-B51368D7472C}"/>
              </a:ext>
            </a:extLst>
          </p:cNvPr>
          <p:cNvSpPr/>
          <p:nvPr/>
        </p:nvSpPr>
        <p:spPr>
          <a:xfrm>
            <a:off x="4495800" y="48768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url.txt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서비스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URL,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소스코드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git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주소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042AADFF-B6E9-FD53-205F-AE4D1443BC0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886200" y="2551175"/>
            <a:ext cx="609600" cy="25426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1148</Words>
  <Application>Microsoft Office PowerPoint</Application>
  <PresentationFormat>A4 용지(210x297mm)</PresentationFormat>
  <Paragraphs>197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Malgun Gothic</vt:lpstr>
      <vt:lpstr>Arial</vt:lpstr>
      <vt:lpstr>Calibri</vt:lpstr>
      <vt:lpstr>Consolas</vt:lpstr>
      <vt:lpstr>Times New Roman</vt:lpstr>
      <vt:lpstr>Wingdings</vt:lpstr>
      <vt:lpstr>Office Theme</vt:lpstr>
      <vt:lpstr>Mobile/WebService Project</vt:lpstr>
      <vt:lpstr>목차</vt:lpstr>
      <vt:lpstr>요구조건</vt:lpstr>
      <vt:lpstr>시스템 구성도</vt:lpstr>
      <vt:lpstr>목적 및 필요성</vt:lpstr>
      <vt:lpstr>기능 - 조건대비표</vt:lpstr>
      <vt:lpstr>기능 - 1. Edge System(Python 기반, 공통)</vt:lpstr>
      <vt:lpstr>기능 - 1. Edge System(Python 기반, 공통)</vt:lpstr>
      <vt:lpstr>기능 - 2. Service System(Python, Django 기반)</vt:lpstr>
      <vt:lpstr>기능 - 3. Client System(Android, Java기반, 개별 제안)</vt:lpstr>
      <vt:lpstr>계획과 다른점, 이상과 현실..</vt:lpstr>
      <vt:lpstr>결론</vt:lpstr>
      <vt:lpstr>결과물의 목록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안기옥</dc:creator>
  <cp:lastModifiedBy>김태수</cp:lastModifiedBy>
  <cp:revision>108</cp:revision>
  <dcterms:created xsi:type="dcterms:W3CDTF">2020-06-08T19:34:44Z</dcterms:created>
  <dcterms:modified xsi:type="dcterms:W3CDTF">2025-12-18T03:23:29Z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